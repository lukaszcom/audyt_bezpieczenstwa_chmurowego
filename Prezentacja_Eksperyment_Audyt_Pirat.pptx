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8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4333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45720"/>
            <a:ext cx="6949440" cy="6949440"/>
          </a:xfrm>
          <a:prstGeom prst="ellipse">
            <a:avLst/>
          </a:prstGeom>
          <a:solidFill>
            <a:srgbClr val="22D3C9">
              <a:alpha val="6000"/>
            </a:srgbClr>
          </a:solidFill>
          <a:ln w="12700">
            <a:solidFill>
              <a:srgbClr val="22D3C9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594360"/>
            <a:ext cx="5669280" cy="5669280"/>
          </a:xfrm>
          <a:prstGeom prst="ellipse">
            <a:avLst/>
          </a:prstGeom>
          <a:solidFill>
            <a:srgbClr val="22D3C9">
              <a:alpha val="8000"/>
            </a:srgbClr>
          </a:solidFill>
          <a:ln w="12700">
            <a:solidFill>
              <a:srgbClr val="22D3C9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1234440"/>
            <a:ext cx="4389120" cy="4389120"/>
          </a:xfrm>
          <a:prstGeom prst="ellipse">
            <a:avLst/>
          </a:prstGeom>
          <a:solidFill>
            <a:srgbClr val="22D3C9">
              <a:alpha val="10000"/>
            </a:srgbClr>
          </a:solidFill>
          <a:ln w="12700">
            <a:solidFill>
              <a:srgbClr val="22D3C9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1945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 ARCHITEKTURY BEZPIECZEŃSTWA — PIRAT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13232" y="256032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E7EE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Dowód, nie deklaracja:</a:t>
            </a:r>
            <a:endParaRPr lang="en-US" sz="3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E7EE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audyt konfiguracji w praktyce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43434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Eksperyment: </a:t>
            </a:r>
            <a:r>
              <a:rPr lang="en-US" sz="1500" b="1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automatyczny skrypt wykrywający błędy konfiguracji w środowisku chmurowym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49808" y="4983480"/>
            <a:ext cx="2011680" cy="0"/>
          </a:xfrm>
          <a:prstGeom prst="line">
            <a:avLst/>
          </a:prstGeom>
          <a:noFill/>
          <a:ln w="25400">
            <a:solidFill>
              <a:srgbClr val="22D3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Łukasz Pietrulewicz  ·  Jakub Ratajczak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Konfiguracja JSON  ·  4 ustalenia krytyczne, 3 wysokie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 W SKRÓCIE · ARCHITEKTURA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7EE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Pirat: defense in depth w czterech warstwach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Fikcyjny e-commerce migrujący do AWS. Zaprojektowaliśmy architekturę, w której żadna warstwa nie jest jedynym zabezpieczeniem — jeśli jedna zawiedzie, kolejna ogranicza skutki.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051560" y="2194560"/>
            <a:ext cx="3931920" cy="3931920"/>
          </a:xfrm>
          <a:prstGeom prst="ellipse">
            <a:avLst/>
          </a:prstGeom>
          <a:solidFill>
            <a:srgbClr val="1C4A66"/>
          </a:solidFill>
          <a:ln w="25400">
            <a:solidFill>
              <a:srgbClr val="0B12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2606040"/>
            <a:ext cx="3108960" cy="3108960"/>
          </a:xfrm>
          <a:prstGeom prst="ellipse">
            <a:avLst/>
          </a:prstGeom>
          <a:solidFill>
            <a:srgbClr val="12344D"/>
          </a:solidFill>
          <a:ln w="25400">
            <a:solidFill>
              <a:srgbClr val="0B12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74520" y="3017520"/>
            <a:ext cx="2286000" cy="2286000"/>
          </a:xfrm>
          <a:prstGeom prst="ellipse">
            <a:avLst/>
          </a:prstGeom>
          <a:solidFill>
            <a:srgbClr val="0D9488"/>
          </a:solidFill>
          <a:ln w="25400">
            <a:solidFill>
              <a:srgbClr val="0B12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3429000"/>
            <a:ext cx="1463040" cy="1463040"/>
          </a:xfrm>
          <a:prstGeom prst="ellipse">
            <a:avLst/>
          </a:prstGeom>
          <a:solidFill>
            <a:srgbClr val="22D3C9"/>
          </a:solidFill>
          <a:ln w="25400">
            <a:solidFill>
              <a:srgbClr val="0B12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88336" y="3831336"/>
            <a:ext cx="658368" cy="658368"/>
          </a:xfrm>
          <a:prstGeom prst="ellipse">
            <a:avLst/>
          </a:prstGeom>
          <a:solidFill>
            <a:srgbClr val="E7EEF5"/>
          </a:solidFill>
          <a:ln/>
        </p:spPr>
      </p:sp>
      <p:sp>
        <p:nvSpPr>
          <p:cNvPr id="10" name="Text 8"/>
          <p:cNvSpPr/>
          <p:nvPr/>
        </p:nvSpPr>
        <p:spPr>
          <a:xfrm>
            <a:off x="2688336" y="383133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5943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Atakujący →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2103120"/>
            <a:ext cx="512064" cy="512064"/>
          </a:xfrm>
          <a:prstGeom prst="ellipse">
            <a:avLst/>
          </a:prstGeom>
          <a:solidFill>
            <a:srgbClr val="22D3C9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4737" y="2241377"/>
            <a:ext cx="235549" cy="235549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812280" y="208483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Szyfrowanie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812280" y="2432304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TLS, AES, KMS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126480" y="3063240"/>
            <a:ext cx="512064" cy="512064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4737" y="3201497"/>
            <a:ext cx="235549" cy="235549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812280" y="304495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812280" y="3392424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MFA, least privilege, RBAC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126480" y="4023360"/>
            <a:ext cx="512064" cy="512064"/>
          </a:xfrm>
          <a:prstGeom prst="ellipse">
            <a:avLst/>
          </a:prstGeom>
          <a:solidFill>
            <a:srgbClr val="12344D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4737" y="4161617"/>
            <a:ext cx="235549" cy="235549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812280" y="400507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Segmentacja sieci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812280" y="4352544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VPC, strefy, firewalle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6126480" y="4983480"/>
            <a:ext cx="512064" cy="512064"/>
          </a:xfrm>
          <a:prstGeom prst="ellipse">
            <a:avLst/>
          </a:prstGeom>
          <a:solidFill>
            <a:srgbClr val="1C4A66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4737" y="5121737"/>
            <a:ext cx="235549" cy="235549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812280" y="496519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(SIEM)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6812280" y="5312664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Logi, alerty, anomalie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PIRAT — EKSPERYMENT: AUDYT KONFIGURACJI BEZPIECZEŃSTWA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 W SKRÓCIE · ANALIZA RYZYKA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Gdzie atakujący uderzy najpierw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metodą STRIDE i macierz ryzyka wskazały dwa priorytety: ochronę danych i uwierzytelnianie.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074920" cy="420624"/>
          </a:xfrm>
          <a:prstGeom prst="roundRect">
            <a:avLst>
              <a:gd name="adj" fmla="val 13043"/>
            </a:avLst>
          </a:prstGeom>
          <a:solidFill>
            <a:srgbClr val="F4F7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970532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12344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705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60704" y="1920240"/>
            <a:ext cx="1691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Spoofing</a:t>
            </a:r>
            <a:endParaRPr lang="en-US" sz="1030" dirty="0"/>
          </a:p>
        </p:txBody>
      </p:sp>
      <p:sp>
        <p:nvSpPr>
          <p:cNvPr id="9" name="Text 7"/>
          <p:cNvSpPr/>
          <p:nvPr/>
        </p:nvSpPr>
        <p:spPr>
          <a:xfrm>
            <a:off x="2743200" y="1920240"/>
            <a:ext cx="2788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Przejęcie sesji/tokenu klienta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548640" y="2409444"/>
            <a:ext cx="507492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459736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12344D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45973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60704" y="2409444"/>
            <a:ext cx="1691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Tampering</a:t>
            </a:r>
            <a:endParaRPr lang="en-US" sz="1030" dirty="0"/>
          </a:p>
        </p:txBody>
      </p:sp>
      <p:sp>
        <p:nvSpPr>
          <p:cNvPr id="14" name="Text 12"/>
          <p:cNvSpPr/>
          <p:nvPr/>
        </p:nvSpPr>
        <p:spPr>
          <a:xfrm>
            <a:off x="2743200" y="2409444"/>
            <a:ext cx="2788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Modyfikacja ceny w żądaniu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548640" y="2898648"/>
            <a:ext cx="5074920" cy="420624"/>
          </a:xfrm>
          <a:prstGeom prst="roundRect">
            <a:avLst>
              <a:gd name="adj" fmla="val 13043"/>
            </a:avLst>
          </a:prstGeom>
          <a:solidFill>
            <a:srgbClr val="F4F7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294894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12344D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9489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60704" y="2898648"/>
            <a:ext cx="1691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Repudiation</a:t>
            </a:r>
            <a:endParaRPr lang="en-US" sz="1030" dirty="0"/>
          </a:p>
        </p:txBody>
      </p:sp>
      <p:sp>
        <p:nvSpPr>
          <p:cNvPr id="19" name="Text 17"/>
          <p:cNvSpPr/>
          <p:nvPr/>
        </p:nvSpPr>
        <p:spPr>
          <a:xfrm>
            <a:off x="2743200" y="2898648"/>
            <a:ext cx="2788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Zaprzeczenie złożeniu zamówienia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548640" y="3387852"/>
            <a:ext cx="507492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438144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12344D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43814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60704" y="3387852"/>
            <a:ext cx="1691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Disclosure</a:t>
            </a:r>
            <a:endParaRPr lang="en-US" sz="1030" dirty="0"/>
          </a:p>
        </p:txBody>
      </p:sp>
      <p:sp>
        <p:nvSpPr>
          <p:cNvPr id="24" name="Text 22"/>
          <p:cNvSpPr/>
          <p:nvPr/>
        </p:nvSpPr>
        <p:spPr>
          <a:xfrm>
            <a:off x="2743200" y="3387852"/>
            <a:ext cx="2788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Wyciek bazy danych klientów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548640" y="3877056"/>
            <a:ext cx="5074920" cy="420624"/>
          </a:xfrm>
          <a:prstGeom prst="roundRect">
            <a:avLst>
              <a:gd name="adj" fmla="val 13043"/>
            </a:avLst>
          </a:prstGeom>
          <a:solidFill>
            <a:srgbClr val="F4F7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3927348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12344D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9273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60704" y="3877056"/>
            <a:ext cx="1691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</a:t>
            </a:r>
            <a:endParaRPr lang="en-US" sz="1030" dirty="0"/>
          </a:p>
        </p:txBody>
      </p:sp>
      <p:sp>
        <p:nvSpPr>
          <p:cNvPr id="29" name="Text 27"/>
          <p:cNvSpPr/>
          <p:nvPr/>
        </p:nvSpPr>
        <p:spPr>
          <a:xfrm>
            <a:off x="2743200" y="3877056"/>
            <a:ext cx="2788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Zalanie API żądaniami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548640" y="4366260"/>
            <a:ext cx="507492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" y="4416552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12344D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4165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60704" y="4366260"/>
            <a:ext cx="1691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Elev. of Privilege</a:t>
            </a:r>
            <a:endParaRPr lang="en-US" sz="1030" dirty="0"/>
          </a:p>
        </p:txBody>
      </p:sp>
      <p:sp>
        <p:nvSpPr>
          <p:cNvPr id="34" name="Text 32"/>
          <p:cNvSpPr/>
          <p:nvPr/>
        </p:nvSpPr>
        <p:spPr>
          <a:xfrm>
            <a:off x="2743200" y="4366260"/>
            <a:ext cx="2788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Pracownik magazynu → panel admina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5897880" y="1920240"/>
            <a:ext cx="5742432" cy="420624"/>
          </a:xfrm>
          <a:prstGeom prst="rect">
            <a:avLst/>
          </a:prstGeom>
          <a:solidFill>
            <a:srgbClr val="12344D"/>
          </a:solidFill>
          <a:ln/>
        </p:spPr>
      </p:sp>
      <p:sp>
        <p:nvSpPr>
          <p:cNvPr id="36" name="Text 34"/>
          <p:cNvSpPr/>
          <p:nvPr/>
        </p:nvSpPr>
        <p:spPr>
          <a:xfrm>
            <a:off x="6035040" y="1920240"/>
            <a:ext cx="35603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ZAGROŻENIE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458188" y="1920240"/>
            <a:ext cx="20449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PRIORYTET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897880" y="2340864"/>
            <a:ext cx="5742432" cy="493776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35040" y="2340864"/>
            <a:ext cx="3445459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Wyciek bazy danych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0177272" y="2441448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41" name="Text 39"/>
          <p:cNvSpPr/>
          <p:nvPr/>
        </p:nvSpPr>
        <p:spPr>
          <a:xfrm>
            <a:off x="10177272" y="244144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Krytyczny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897880" y="2834640"/>
            <a:ext cx="5742432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35040" y="2834640"/>
            <a:ext cx="3445459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Przejęcie konta klienta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0177272" y="2935224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45" name="Text 43"/>
          <p:cNvSpPr/>
          <p:nvPr/>
        </p:nvSpPr>
        <p:spPr>
          <a:xfrm>
            <a:off x="10177272" y="2935224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Krytyczny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897880" y="3328416"/>
            <a:ext cx="5742432" cy="493776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35040" y="3328416"/>
            <a:ext cx="3445459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Atak DDoS na API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10177272" y="342900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49" name="Text 47"/>
          <p:cNvSpPr/>
          <p:nvPr/>
        </p:nvSpPr>
        <p:spPr>
          <a:xfrm>
            <a:off x="10177272" y="342900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Wysoki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897880" y="3822192"/>
            <a:ext cx="5742432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035040" y="3822192"/>
            <a:ext cx="3445459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Eskalacja uprawnień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10177272" y="3922776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53" name="Text 51"/>
          <p:cNvSpPr/>
          <p:nvPr/>
        </p:nvSpPr>
        <p:spPr>
          <a:xfrm>
            <a:off x="10177272" y="3922776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Średni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897880" y="4315968"/>
            <a:ext cx="5742432" cy="493776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035040" y="4315968"/>
            <a:ext cx="3445459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Manipulacja ceną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10177272" y="4416552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57" name="Text 55"/>
          <p:cNvSpPr/>
          <p:nvPr/>
        </p:nvSpPr>
        <p:spPr>
          <a:xfrm>
            <a:off x="10177272" y="441655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Niski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548640" y="525780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111A2C"/>
          </a:solidFill>
          <a:ln/>
        </p:spPr>
      </p:sp>
      <p:sp>
        <p:nvSpPr>
          <p:cNvPr id="59" name="Shape 57"/>
          <p:cNvSpPr/>
          <p:nvPr/>
        </p:nvSpPr>
        <p:spPr>
          <a:xfrm>
            <a:off x="777240" y="5413248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6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5536692"/>
            <a:ext cx="210312" cy="210312"/>
          </a:xfrm>
          <a:prstGeom prst="rect">
            <a:avLst/>
          </a:prstGeom>
        </p:spPr>
      </p:pic>
      <p:sp>
        <p:nvSpPr>
          <p:cNvPr id="61" name="Text 58"/>
          <p:cNvSpPr/>
          <p:nvPr/>
        </p:nvSpPr>
        <p:spPr>
          <a:xfrm>
            <a:off x="1417320" y="5285232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Pytanie, które zadaliśmy sobie: </a:t>
            </a:r>
            <a:r>
              <a:rPr lang="en-US" sz="12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architektura jest zaprojektowana dobrze na papierze — ale czy konfiguracja faktycznego wdrożenia jej odpowiada?</a:t>
            </a:r>
            <a:endParaRPr lang="en-US" sz="1250" dirty="0"/>
          </a:p>
        </p:txBody>
      </p:sp>
      <p:sp>
        <p:nvSpPr>
          <p:cNvPr id="62" name="Text 59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PIRAT — EKSPERYMENT: AUDYT KONFIGURACJI BEZPIECZEŃSTWA</a:t>
            </a:r>
            <a:endParaRPr lang="en-US" sz="900" dirty="0"/>
          </a:p>
        </p:txBody>
      </p:sp>
      <p:sp>
        <p:nvSpPr>
          <p:cNvPr id="63" name="Text 60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SKĄD PYTANIE O EKSPERYMENT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Problem: kontrole bez dowodów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raporcie zidentyfikowaliśmy częsty błąd organizacji: kontrole bezpieczeństwa formalnie istnieją, ale nikt nie sprawdza, czy faktycznie działają.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4F7FB"/>
          </a:solidFill>
          <a:ln/>
          <a:effectLst>
            <a:outerShdw blurRad="127000" dist="381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10312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0F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„Stosujemy MFA” to deklaracja. Zrzut konfiguracji polityki IAM wymuszającej MFA — to dowód.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Hipoteza eksperymentu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02336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Nawet dobrze zaprojektowana architektura defense in depth nie obroni się sama, jeśli jej wdrożenie odbiega od projektu — przez błąd ludzki, pośpiech albo "tymczasową" zmianę, o której ktoś zapomniał.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55080" y="3611880"/>
            <a:ext cx="5285232" cy="2377440"/>
          </a:xfrm>
          <a:prstGeom prst="roundRect">
            <a:avLst>
              <a:gd name="adj" fmla="val 3077"/>
            </a:avLst>
          </a:prstGeom>
          <a:solidFill>
            <a:srgbClr val="12344D"/>
          </a:solidFill>
          <a:ln/>
          <a:effectLst>
            <a:outerShdw blurRad="127000" dist="381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29400" y="3886200"/>
            <a:ext cx="512064" cy="512064"/>
          </a:xfrm>
          <a:prstGeom prst="ellipse">
            <a:avLst/>
          </a:prstGeom>
          <a:solidFill>
            <a:srgbClr val="22D3C9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7657" y="4024457"/>
            <a:ext cx="235549" cy="235549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315200" y="39136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zbudowaliśmy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629400" y="4526280"/>
            <a:ext cx="473659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Skrypt w Pythonie, który automatycznie sprawdza plik konfiguracyjny infrastruktury Pirat względem zasad opisanych w naszej architekturze — i generuje raport z konkretnymi dowodami, a nie opiniami.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PIRAT — EKSPERYMENT: AUDYT KONFIGURACJI BEZPIECZEŃSTWA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EKSPERYMENT · SKRYPT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Jak działa skrypt audytujący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Prosty, ale kompletny przepływ: wejście → reguły → priorytetyzacja → raport.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F4F7FB"/>
          </a:solidFill>
          <a:ln/>
          <a:effectLst>
            <a:outerShdw blurRad="127000" dist="381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1488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2344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514600" y="21488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8044" y="2272284"/>
            <a:ext cx="210312" cy="2103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28346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Wejście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31520" y="3246120"/>
            <a:ext cx="22402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Plik konfiguracyjny JSON: role IAM, magazyny plików, konta administracyjne, bazy danych, ustawienia sieciowe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182112" y="3657600"/>
            <a:ext cx="173736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3383280" y="196596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F4F7FB"/>
          </a:solidFill>
          <a:ln/>
          <a:effectLst>
            <a:outerShdw blurRad="127000" dist="381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566160" y="21488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2344D"/>
          </a:solidFill>
          <a:ln/>
        </p:spPr>
      </p:sp>
      <p:sp>
        <p:nvSpPr>
          <p:cNvPr id="15" name="Text 12"/>
          <p:cNvSpPr/>
          <p:nvPr/>
        </p:nvSpPr>
        <p:spPr>
          <a:xfrm>
            <a:off x="356616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349240" y="21488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2684" y="2272284"/>
            <a:ext cx="210312" cy="21031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566160" y="28346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Reguły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3566160" y="3246120"/>
            <a:ext cx="22402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Każda funkcja sprawdza jedną kategorię — odpowiadającą mechanizmowi z architektury (rozdz. 3)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016752" y="3657600"/>
            <a:ext cx="173736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6217920" y="196596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F4F7FB"/>
          </a:solidFill>
          <a:ln/>
          <a:effectLst>
            <a:outerShdw blurRad="127000" dist="381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400800" y="21488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2344D"/>
          </a:solidFill>
          <a:ln/>
        </p:spPr>
      </p:sp>
      <p:sp>
        <p:nvSpPr>
          <p:cNvPr id="23" name="Text 19"/>
          <p:cNvSpPr/>
          <p:nvPr/>
        </p:nvSpPr>
        <p:spPr>
          <a:xfrm>
            <a:off x="640080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8183880" y="21488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7324" y="2272284"/>
            <a:ext cx="210312" cy="21031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400800" y="28346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Priorytetyzacja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6400800" y="3246120"/>
            <a:ext cx="22402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Każdy wykryty problem → krytyczny / wysoki / średni, plus rekomendacja naprawy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8851392" y="3657600"/>
            <a:ext cx="173736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9" name="Shape 24"/>
          <p:cNvSpPr/>
          <p:nvPr/>
        </p:nvSpPr>
        <p:spPr>
          <a:xfrm>
            <a:off x="9052560" y="196596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F4F7FB"/>
          </a:solidFill>
          <a:ln/>
          <a:effectLst>
            <a:outerShdw blurRad="127000" dist="381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9235440" y="21488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2344D"/>
          </a:solidFill>
          <a:ln/>
        </p:spPr>
      </p:sp>
      <p:sp>
        <p:nvSpPr>
          <p:cNvPr id="31" name="Text 26"/>
          <p:cNvSpPr/>
          <p:nvPr/>
        </p:nvSpPr>
        <p:spPr>
          <a:xfrm>
            <a:off x="923544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32" name="Shape 27"/>
          <p:cNvSpPr/>
          <p:nvPr/>
        </p:nvSpPr>
        <p:spPr>
          <a:xfrm>
            <a:off x="11018520" y="21488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41964" y="2272284"/>
            <a:ext cx="210312" cy="210312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9235440" y="28346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Wyjście</a:t>
            </a:r>
            <a:endParaRPr lang="en-US" sz="1500" dirty="0"/>
          </a:p>
        </p:txBody>
      </p:sp>
      <p:sp>
        <p:nvSpPr>
          <p:cNvPr id="35" name="Text 29"/>
          <p:cNvSpPr/>
          <p:nvPr/>
        </p:nvSpPr>
        <p:spPr>
          <a:xfrm>
            <a:off x="9235440" y="3246120"/>
            <a:ext cx="22402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Czytelny raport tekstowy z podsumowaniem liczbowym i listą ustaleń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PIRAT — EKSPERYMENT: AUDYT KONFIGURACJI BEZPIECZEŃSTWA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EKSPERYMENT · KOD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7EE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Reguła w akcji: sprawdzanie ról IAM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Rzeczywisty fragment kodu z naszego eksperymentu — funkcja sprawdza zasadę least privilege.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7315200" cy="4391127"/>
          </a:xfrm>
          <a:prstGeom prst="roundRect">
            <a:avLst>
              <a:gd name="adj" fmla="val 1666"/>
            </a:avLst>
          </a:prstGeom>
          <a:solidFill>
            <a:srgbClr val="0D1521"/>
          </a:solidFill>
          <a:ln w="12700">
            <a:solidFill>
              <a:srgbClr val="1C4A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130552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987552" y="2130552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1225296" y="2130552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2057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D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audyt_iam.py</a:t>
            </a:r>
            <a:endParaRPr lang="en-US" sz="1000" dirty="0"/>
          </a:p>
        </p:txBody>
      </p:sp>
      <p:pic>
        <p:nvPicPr>
          <p:cNvPr id="10" name="Image 0" descr="/home/claude/pptx_build/code_screen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23160"/>
            <a:ext cx="6949440" cy="3796767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092440" y="1965960"/>
            <a:ext cx="3547872" cy="1097280"/>
          </a:xfrm>
          <a:prstGeom prst="roundRect">
            <a:avLst>
              <a:gd name="adj" fmla="val 6667"/>
            </a:avLst>
          </a:prstGeom>
          <a:solidFill>
            <a:srgbClr val="111A2C"/>
          </a:solidFill>
          <a:ln w="15875">
            <a:solidFill>
              <a:srgbClr val="EF444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75320" y="2075688"/>
            <a:ext cx="3182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"*" w akcjach i zasobach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275320" y="2441448"/>
            <a:ext cx="3182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Rola ma nieograniczone uprawnienia → priorytet KRYTYCZNY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092440" y="3200400"/>
            <a:ext cx="3547872" cy="1097280"/>
          </a:xfrm>
          <a:prstGeom prst="roundRect">
            <a:avLst>
              <a:gd name="adj" fmla="val 6667"/>
            </a:avLst>
          </a:prstGeom>
          <a:solidFill>
            <a:srgbClr val="111A2C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75320" y="3310128"/>
            <a:ext cx="3182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"*" tylko w akcjach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275320" y="3675888"/>
            <a:ext cx="3182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Rola ma dostęp do wszystkich akcji → priorytet WYSOKI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092440" y="4434840"/>
            <a:ext cx="3547872" cy="1097280"/>
          </a:xfrm>
          <a:prstGeom prst="roundRect">
            <a:avLst>
              <a:gd name="adj" fmla="val 6667"/>
            </a:avLst>
          </a:prstGeom>
          <a:solidFill>
            <a:srgbClr val="111A2C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75320" y="4544568"/>
            <a:ext cx="3182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Rekomendacja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275320" y="4910328"/>
            <a:ext cx="3182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Zawsze generowana automatycznie wraz z problemem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PIRAT — EKSPERYMENT: AUDYT KONFIGURACJI BEZPIECZEŃSTWA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EKSPERYMENT · REGUŁY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Pięć kategorii, pięć mechanizmów obrony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Każda reguła w skrypcie odpowiada 1:1 mechanizmowi opisanemu w architekturze defense in depth.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121408" cy="4160520"/>
          </a:xfrm>
          <a:prstGeom prst="roundRect">
            <a:avLst>
              <a:gd name="adj" fmla="val 3448"/>
            </a:avLst>
          </a:prstGeom>
          <a:solidFill>
            <a:srgbClr val="F4F7FB"/>
          </a:solidFill>
          <a:ln/>
          <a:effectLst>
            <a:outerShdw blurRad="127000" dist="381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35024" y="2240280"/>
            <a:ext cx="548640" cy="548640"/>
          </a:xfrm>
          <a:prstGeom prst="ellipse">
            <a:avLst/>
          </a:prstGeom>
          <a:solidFill>
            <a:srgbClr val="12344D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3157" y="2388413"/>
            <a:ext cx="252374" cy="25237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2971800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IAM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13232" y="3611880"/>
            <a:ext cx="179222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7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Wykrywa akcje/zasoby "*" — brak zasady least privilege</a:t>
            </a:r>
            <a:endParaRPr lang="en-US" sz="970" dirty="0"/>
          </a:p>
        </p:txBody>
      </p:sp>
      <p:sp>
        <p:nvSpPr>
          <p:cNvPr id="10" name="Shape 7"/>
          <p:cNvSpPr/>
          <p:nvPr/>
        </p:nvSpPr>
        <p:spPr>
          <a:xfrm>
            <a:off x="685800" y="5623560"/>
            <a:ext cx="1847088" cy="365760"/>
          </a:xfrm>
          <a:prstGeom prst="roundRect">
            <a:avLst>
              <a:gd name="adj" fmla="val 50000"/>
            </a:avLst>
          </a:prstGeom>
          <a:solidFill>
            <a:srgbClr val="12344D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5623560"/>
            <a:ext cx="1847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Krytyczny / Wysoki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816352" y="1965960"/>
            <a:ext cx="2121408" cy="4160520"/>
          </a:xfrm>
          <a:prstGeom prst="roundRect">
            <a:avLst>
              <a:gd name="adj" fmla="val 3448"/>
            </a:avLst>
          </a:prstGeom>
          <a:solidFill>
            <a:srgbClr val="F4F7FB"/>
          </a:solidFill>
          <a:ln/>
          <a:effectLst>
            <a:outerShdw blurRad="127000" dist="381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02736" y="2240280"/>
            <a:ext cx="548640" cy="548640"/>
          </a:xfrm>
          <a:prstGeom prst="ellipse">
            <a:avLst/>
          </a:prstGeom>
          <a:solidFill>
            <a:srgbClr val="12344D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0869" y="2388413"/>
            <a:ext cx="252374" cy="25237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953512" y="2971800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Magazyny plików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980944" y="3611880"/>
            <a:ext cx="179222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7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Sprawdza publiczny dostęp oraz brak szyfrowania w spoczynku</a:t>
            </a:r>
            <a:endParaRPr lang="en-US" sz="970" dirty="0"/>
          </a:p>
        </p:txBody>
      </p:sp>
      <p:sp>
        <p:nvSpPr>
          <p:cNvPr id="17" name="Shape 13"/>
          <p:cNvSpPr/>
          <p:nvPr/>
        </p:nvSpPr>
        <p:spPr>
          <a:xfrm>
            <a:off x="2953512" y="5623560"/>
            <a:ext cx="1847088" cy="365760"/>
          </a:xfrm>
          <a:prstGeom prst="roundRect">
            <a:avLst>
              <a:gd name="adj" fmla="val 50000"/>
            </a:avLst>
          </a:prstGeom>
          <a:solidFill>
            <a:srgbClr val="12344D"/>
          </a:solidFill>
          <a:ln/>
        </p:spPr>
      </p:sp>
      <p:sp>
        <p:nvSpPr>
          <p:cNvPr id="18" name="Text 14"/>
          <p:cNvSpPr/>
          <p:nvPr/>
        </p:nvSpPr>
        <p:spPr>
          <a:xfrm>
            <a:off x="2953512" y="5623560"/>
            <a:ext cx="1847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Krytyczny / Wysoki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5084064" y="1965960"/>
            <a:ext cx="2121408" cy="4160520"/>
          </a:xfrm>
          <a:prstGeom prst="roundRect">
            <a:avLst>
              <a:gd name="adj" fmla="val 3448"/>
            </a:avLst>
          </a:prstGeom>
          <a:solidFill>
            <a:srgbClr val="F4F7FB"/>
          </a:solidFill>
          <a:ln/>
          <a:effectLst>
            <a:outerShdw blurRad="127000" dist="381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870448" y="2240280"/>
            <a:ext cx="548640" cy="548640"/>
          </a:xfrm>
          <a:prstGeom prst="ellipse">
            <a:avLst/>
          </a:prstGeom>
          <a:solidFill>
            <a:srgbClr val="12344D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8581" y="2388413"/>
            <a:ext cx="252374" cy="25237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221224" y="2971800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 administracyjne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5248656" y="3611880"/>
            <a:ext cx="179222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7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Weryfikuje, czy MFA jest włączone dla każdego konta z dostępem do panelu</a:t>
            </a:r>
            <a:endParaRPr lang="en-US" sz="970" dirty="0"/>
          </a:p>
        </p:txBody>
      </p:sp>
      <p:sp>
        <p:nvSpPr>
          <p:cNvPr id="24" name="Shape 19"/>
          <p:cNvSpPr/>
          <p:nvPr/>
        </p:nvSpPr>
        <p:spPr>
          <a:xfrm>
            <a:off x="5221224" y="5623560"/>
            <a:ext cx="1847088" cy="365760"/>
          </a:xfrm>
          <a:prstGeom prst="roundRect">
            <a:avLst>
              <a:gd name="adj" fmla="val 50000"/>
            </a:avLst>
          </a:prstGeom>
          <a:solidFill>
            <a:srgbClr val="12344D"/>
          </a:solidFill>
          <a:ln/>
        </p:spPr>
      </p:sp>
      <p:sp>
        <p:nvSpPr>
          <p:cNvPr id="25" name="Text 20"/>
          <p:cNvSpPr/>
          <p:nvPr/>
        </p:nvSpPr>
        <p:spPr>
          <a:xfrm>
            <a:off x="5221224" y="5623560"/>
            <a:ext cx="1847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Krytyczny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7351776" y="1965960"/>
            <a:ext cx="2121408" cy="4160520"/>
          </a:xfrm>
          <a:prstGeom prst="roundRect">
            <a:avLst>
              <a:gd name="adj" fmla="val 3448"/>
            </a:avLst>
          </a:prstGeom>
          <a:solidFill>
            <a:srgbClr val="F4F7FB"/>
          </a:solidFill>
          <a:ln/>
          <a:effectLst>
            <a:outerShdw blurRad="127000" dist="381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8138160" y="2240280"/>
            <a:ext cx="548640" cy="548640"/>
          </a:xfrm>
          <a:prstGeom prst="ellipse">
            <a:avLst/>
          </a:prstGeom>
          <a:solidFill>
            <a:srgbClr val="12344D"/>
          </a:solidFill>
          <a:ln/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6293" y="2388413"/>
            <a:ext cx="252374" cy="25237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488936" y="2971800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Bazy danych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7516368" y="3611880"/>
            <a:ext cx="179222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7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Sprawdza, czy szyfrowanie w spoczynku jest aktywne (envelope encryption)</a:t>
            </a:r>
            <a:endParaRPr lang="en-US" sz="970" dirty="0"/>
          </a:p>
        </p:txBody>
      </p:sp>
      <p:sp>
        <p:nvSpPr>
          <p:cNvPr id="31" name="Shape 25"/>
          <p:cNvSpPr/>
          <p:nvPr/>
        </p:nvSpPr>
        <p:spPr>
          <a:xfrm>
            <a:off x="7488936" y="5623560"/>
            <a:ext cx="1847088" cy="365760"/>
          </a:xfrm>
          <a:prstGeom prst="roundRect">
            <a:avLst>
              <a:gd name="adj" fmla="val 50000"/>
            </a:avLst>
          </a:prstGeom>
          <a:solidFill>
            <a:srgbClr val="12344D"/>
          </a:solidFill>
          <a:ln/>
        </p:spPr>
      </p:sp>
      <p:sp>
        <p:nvSpPr>
          <p:cNvPr id="32" name="Text 26"/>
          <p:cNvSpPr/>
          <p:nvPr/>
        </p:nvSpPr>
        <p:spPr>
          <a:xfrm>
            <a:off x="7488936" y="5623560"/>
            <a:ext cx="1847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Wysoki</a:t>
            </a:r>
            <a:endParaRPr lang="en-US" sz="850" dirty="0"/>
          </a:p>
        </p:txBody>
      </p:sp>
      <p:sp>
        <p:nvSpPr>
          <p:cNvPr id="33" name="Shape 27"/>
          <p:cNvSpPr/>
          <p:nvPr/>
        </p:nvSpPr>
        <p:spPr>
          <a:xfrm>
            <a:off x="9619488" y="1965960"/>
            <a:ext cx="2121408" cy="4160520"/>
          </a:xfrm>
          <a:prstGeom prst="roundRect">
            <a:avLst>
              <a:gd name="adj" fmla="val 3448"/>
            </a:avLst>
          </a:prstGeom>
          <a:solidFill>
            <a:srgbClr val="F4F7FB"/>
          </a:solidFill>
          <a:ln/>
          <a:effectLst>
            <a:outerShdw blurRad="127000" dist="381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10405872" y="2240280"/>
            <a:ext cx="548640" cy="548640"/>
          </a:xfrm>
          <a:prstGeom prst="ellipse">
            <a:avLst/>
          </a:prstGeom>
          <a:solidFill>
            <a:srgbClr val="12344D"/>
          </a:solidFill>
          <a:ln/>
        </p:spPr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54005" y="2388413"/>
            <a:ext cx="252374" cy="252374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9756648" y="2971800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Segmentacja sieci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9784080" y="3611880"/>
            <a:ext cx="179222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7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Wykrywa, czy panel administracyjny jest dostępny bezpośrednio z internetu</a:t>
            </a:r>
            <a:endParaRPr lang="en-US" sz="970" dirty="0"/>
          </a:p>
        </p:txBody>
      </p:sp>
      <p:sp>
        <p:nvSpPr>
          <p:cNvPr id="38" name="Shape 31"/>
          <p:cNvSpPr/>
          <p:nvPr/>
        </p:nvSpPr>
        <p:spPr>
          <a:xfrm>
            <a:off x="9756648" y="5623560"/>
            <a:ext cx="1847088" cy="365760"/>
          </a:xfrm>
          <a:prstGeom prst="roundRect">
            <a:avLst>
              <a:gd name="adj" fmla="val 50000"/>
            </a:avLst>
          </a:prstGeom>
          <a:solidFill>
            <a:srgbClr val="12344D"/>
          </a:solidFill>
          <a:ln/>
        </p:spPr>
      </p:sp>
      <p:sp>
        <p:nvSpPr>
          <p:cNvPr id="39" name="Text 32"/>
          <p:cNvSpPr/>
          <p:nvPr/>
        </p:nvSpPr>
        <p:spPr>
          <a:xfrm>
            <a:off x="9756648" y="5623560"/>
            <a:ext cx="1847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Wysoki</a:t>
            </a:r>
            <a:endParaRPr lang="en-US" sz="850" dirty="0"/>
          </a:p>
        </p:txBody>
      </p:sp>
      <p:sp>
        <p:nvSpPr>
          <p:cNvPr id="40" name="Text 33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PIRAT — EKSPERYMENT: AUDYT KONFIGURACJI BEZPIECZEŃSTWA</a:t>
            </a:r>
            <a:endParaRPr lang="en-US" sz="900" dirty="0"/>
          </a:p>
        </p:txBody>
      </p:sp>
      <p:sp>
        <p:nvSpPr>
          <p:cNvPr id="41" name="Text 34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EKSPERYMENT · KONFIGURACJA TESTOWA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7EE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wstrzyknęliśmy do testowej konfiguracji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Żeby zweryfikować, czy skrypt faktycznie wykrywa problemy, przygotowaliśmy plik JSON z umyślnie wprowadzonymi błędami konfiguracyjnymi — typowymi dla realnych wdrożeń AWS.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49240" cy="786384"/>
          </a:xfrm>
          <a:prstGeom prst="roundRect">
            <a:avLst>
              <a:gd name="adj" fmla="val 8140"/>
            </a:avLst>
          </a:prstGeom>
          <a:solidFill>
            <a:srgbClr val="111A2C"/>
          </a:solidFill>
          <a:ln w="12700">
            <a:solidFill>
              <a:srgbClr val="1C4A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258568"/>
            <a:ext cx="475488" cy="475488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614" y="2386950"/>
            <a:ext cx="218724" cy="2187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98448" y="2194560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D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pirat-faktury-klientow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298448" y="2487168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Magazyn plików ustawiony jako publicznie dostępny, bez szyfrowania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263640" y="2103120"/>
            <a:ext cx="5349240" cy="786384"/>
          </a:xfrm>
          <a:prstGeom prst="roundRect">
            <a:avLst>
              <a:gd name="adj" fmla="val 8140"/>
            </a:avLst>
          </a:prstGeom>
          <a:solidFill>
            <a:srgbClr val="111A2C"/>
          </a:solidFill>
          <a:ln w="12700">
            <a:solidFill>
              <a:srgbClr val="1C4A6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28232" y="2258568"/>
            <a:ext cx="475488" cy="475488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614" y="2386950"/>
            <a:ext cx="218724" cy="2187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13448" y="2194560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D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rola-skrypt-backup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7013448" y="2487168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Rola IAM z akcjami "*" i zasobami "*" — brak ograniczeń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48640" y="3054096"/>
            <a:ext cx="5349240" cy="786384"/>
          </a:xfrm>
          <a:prstGeom prst="roundRect">
            <a:avLst>
              <a:gd name="adj" fmla="val 8140"/>
            </a:avLst>
          </a:prstGeom>
          <a:solidFill>
            <a:srgbClr val="111A2C"/>
          </a:solidFill>
          <a:ln w="12700">
            <a:solidFill>
              <a:srgbClr val="1C4A6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13232" y="3209544"/>
            <a:ext cx="475488" cy="475488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614" y="3337926"/>
            <a:ext cx="218724" cy="21872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98448" y="3145536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D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admin_anna / admin_serwis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298448" y="3438144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Dwa konta administracyjne bez włączonego MFA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263640" y="3054096"/>
            <a:ext cx="5349240" cy="786384"/>
          </a:xfrm>
          <a:prstGeom prst="roundRect">
            <a:avLst>
              <a:gd name="adj" fmla="val 8140"/>
            </a:avLst>
          </a:prstGeom>
          <a:solidFill>
            <a:srgbClr val="111A2C"/>
          </a:solidFill>
          <a:ln w="12700">
            <a:solidFill>
              <a:srgbClr val="1C4A66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428232" y="3209544"/>
            <a:ext cx="475488" cy="475488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6614" y="3337926"/>
            <a:ext cx="218724" cy="21872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13448" y="3145536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D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baza-zamowienia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7013448" y="3438144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 danych zamówień bez szyfrowania w spoczynku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548640" y="4005072"/>
            <a:ext cx="5349240" cy="786384"/>
          </a:xfrm>
          <a:prstGeom prst="roundRect">
            <a:avLst>
              <a:gd name="adj" fmla="val 8140"/>
            </a:avLst>
          </a:prstGeom>
          <a:solidFill>
            <a:srgbClr val="111A2C"/>
          </a:solidFill>
          <a:ln w="12700">
            <a:solidFill>
              <a:srgbClr val="1C4A66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713232" y="4160520"/>
            <a:ext cx="475488" cy="475488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614" y="4288902"/>
            <a:ext cx="218724" cy="21872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298448" y="4096512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D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Panel administracyjny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1298448" y="438912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Skonfigurowany jako dostępny z całego internetu, bez ograniczeń IP/VPN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548640" y="5001768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Cel: sprawdzić, czy każda kategoria błędu zostanie wykryta i prawidłowo zaklasyfikowana.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PIRAT — EKSPERYMENT: AUDYT KONFIGURACJI BEZPIECZEŃSTWA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EKSPERYMENT · WYNIK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Wynik: raport audytu bezpieczeństwa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Rzeczywisty output naszego skryptu uruchomionego na testowej konfiguracji.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014478" cy="4251960"/>
          </a:xfrm>
          <a:prstGeom prst="roundRect">
            <a:avLst>
              <a:gd name="adj" fmla="val 1720"/>
            </a:avLst>
          </a:prstGeom>
          <a:solidFill>
            <a:srgbClr val="0D152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084832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987552" y="2084832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1225296" y="2084832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2011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D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audyt.py config_testowy.json</a:t>
            </a:r>
            <a:endParaRPr lang="en-US" sz="1000" dirty="0"/>
          </a:p>
        </p:txBody>
      </p:sp>
      <p:pic>
        <p:nvPicPr>
          <p:cNvPr id="10" name="Image 0" descr="/home/claude/pptx_build/audit_report_screen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77440"/>
            <a:ext cx="4648718" cy="36576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837438" y="1920240"/>
            <a:ext cx="5802874" cy="4251960"/>
          </a:xfrm>
          <a:prstGeom prst="roundRect">
            <a:avLst>
              <a:gd name="adj" fmla="val 1720"/>
            </a:avLst>
          </a:prstGeom>
          <a:solidFill>
            <a:srgbClr val="12344D"/>
          </a:solidFill>
          <a:ln/>
          <a:effectLst>
            <a:outerShdw blurRad="127000" dist="381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066038" y="2103120"/>
            <a:ext cx="534567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Podsumowanie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066038" y="25146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7117598" y="2697480"/>
            <a:ext cx="433983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KRYTYCZNE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066038" y="3264408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7117598" y="3447288"/>
            <a:ext cx="433983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WYSOKIE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066038" y="4014216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7117598" y="4197096"/>
            <a:ext cx="433983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ŚREDNIE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066038" y="5577840"/>
            <a:ext cx="534567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Wszystkie 5 wstrzyknionych błędów zostało wykrytych.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PIRAT — EKSPERYMENT: AUDYT KONFIGURACJI BEZPIECZEŃSTWA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EKSPERYMENT · USTALENIA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7EE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Cztery ustalenia krytyczne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dokładnie te scenariusze, które uznaliśmy za najbardziej ryzykowne w analizie STRIDE.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111A2C"/>
          </a:solidFill>
          <a:ln w="15875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10312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103120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KRYTYCZNY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920240" y="2103120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Magazyn plików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9808" y="2578608"/>
            <a:ext cx="50383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05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Magazyn 'pirat-faktury-klientow' jest publicznie dostępny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3154680"/>
            <a:ext cx="503834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Rekomendacja: </a:t>
            </a:r>
            <a:r>
              <a:rPr lang="en-US" sz="105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Wyłączyć publiczny dostęp, ograniczyć go do roli aplikacji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92024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111A2C"/>
          </a:solidFill>
          <a:ln w="15875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9088" y="210312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6419088" y="2103120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KRYTYCZNY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589520" y="2103120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19088" y="2578608"/>
            <a:ext cx="50383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05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Rola 'rola-skrypt-backup' ma nieograniczone uprawnienia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19088" y="3154680"/>
            <a:ext cx="503834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Rekomendacja: </a:t>
            </a:r>
            <a:r>
              <a:rPr lang="en-US" sz="105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Ograniczyć rolę do konkretnych akcji i zasobów (least privilege)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06908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111A2C"/>
          </a:solidFill>
          <a:ln w="15875">
            <a:solidFill>
              <a:srgbClr val="EF44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" y="425196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4251960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KRYTYCZNY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920240" y="4251960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Uwierzytelnianie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9808" y="4727448"/>
            <a:ext cx="50383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05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Konto administracyjne 'admin_anna' nie ma włączonego MFA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49808" y="5303520"/>
            <a:ext cx="503834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Rekomendacja: </a:t>
            </a:r>
            <a:r>
              <a:rPr lang="en-US" sz="105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Wymusić MFA dla wszystkich kont z dostępem do panelu administracyjnego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17920" y="406908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111A2C"/>
          </a:solidFill>
          <a:ln w="15875">
            <a:solidFill>
              <a:srgbClr val="EF44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19088" y="425196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6419088" y="4251960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KRYTYCZNY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589520" y="4251960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Uwierzytelnianie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19088" y="4727448"/>
            <a:ext cx="50383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05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Konto administracyjne 'admin_serwis' nie ma włączonego MFA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19088" y="5303520"/>
            <a:ext cx="503834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Rekomendacja: </a:t>
            </a:r>
            <a:r>
              <a:rPr lang="en-US" sz="105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Wymusić MFA dla wszystkich kont z dostępem do panelu administracyjnego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PIRAT — EKSPERYMENT: AUDYT KONFIGURACJI BEZPIECZEŃSTWA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EKSPERYMENT · DOMKNIĘCIE PĘTLI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 teorii do praktyki: ta sama mapa ryzyka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Ustalenia audytu nie są przypadkowe — odpowiadają bezpośrednio zagrożeniom z naszej analizy STRIDE i macierzy ryzyka.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291840" cy="457200"/>
          </a:xfrm>
          <a:prstGeom prst="rect">
            <a:avLst/>
          </a:prstGeom>
          <a:solidFill>
            <a:srgbClr val="12344D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103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KATEGORIA STRIDE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840480" y="2103120"/>
            <a:ext cx="3657600" cy="457200"/>
          </a:xfrm>
          <a:prstGeom prst="rect">
            <a:avLst/>
          </a:prstGeom>
          <a:solidFill>
            <a:srgbClr val="12344D"/>
          </a:solidFill>
          <a:ln/>
        </p:spPr>
      </p:sp>
      <p:sp>
        <p:nvSpPr>
          <p:cNvPr id="8" name="Text 6"/>
          <p:cNvSpPr/>
          <p:nvPr/>
        </p:nvSpPr>
        <p:spPr>
          <a:xfrm>
            <a:off x="3977640" y="21031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ZAGROŻENIE Z RAPORTU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498080" y="2103120"/>
            <a:ext cx="4114800" cy="457200"/>
          </a:xfrm>
          <a:prstGeom prst="rect">
            <a:avLst/>
          </a:prstGeom>
          <a:solidFill>
            <a:srgbClr val="12344D"/>
          </a:solidFill>
          <a:ln/>
        </p:spPr>
      </p:sp>
      <p:sp>
        <p:nvSpPr>
          <p:cNvPr id="10" name="Text 8"/>
          <p:cNvSpPr/>
          <p:nvPr/>
        </p:nvSpPr>
        <p:spPr>
          <a:xfrm>
            <a:off x="7635240" y="2103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POTWIERDZIŁ AUDYT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11064240" cy="914400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56032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Disclosure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977640" y="2560320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Wyciek bazy danych klientów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635240" y="2560320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Publiczny magazyn faktur — bezpośrednia realizacja tego zagrożenia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474720"/>
            <a:ext cx="11064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47472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Elevation of Privilege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977640" y="3474720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Pracownik magazynu uzyskuje dostęp do panelu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635240" y="3474720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Rola IAM z nieograniczonymi uprawnieniami umożliwia eskalację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389120"/>
            <a:ext cx="11064240" cy="914400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38912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Spoofing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977640" y="4389120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Przejęcie konta przez przejęcie sesji/tokenu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635240" y="4389120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 administracyjne bez MFA — brak drugiej warstwy obrony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Wniosek: </a:t>
            </a: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audyt nie odkrył nowych zagrożeń — potwierdził, że te już zidentyfikowane mogą się materializować przez konkretne błędy konfiguracji.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PIRAT — EKSPERYMENT: AUDYT KONFIGURACJI BEZPIECZEŃSTWA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EKSPERYMENT · WNIOSKI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7EE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eksperyment nam pokazał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111A2C"/>
          </a:solidFill>
          <a:ln w="12700">
            <a:solidFill>
              <a:srgbClr val="1C4A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2880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" y="1952244"/>
            <a:ext cx="210312" cy="210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81051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Architektura ≠ wdrożenie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25880" y="214884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Dobry projekt na papierze nie gwarantuje, że konfiguracja faktycznie go odzwierciedla.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548640" y="306324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111A2C"/>
          </a:solidFill>
          <a:ln w="12700">
            <a:solidFill>
              <a:srgbClr val="1C4A6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324612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" y="3369564"/>
            <a:ext cx="210312" cy="210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322783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Dowód &gt; deklaracja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25880" y="356616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Skrypt dał nam konkretny, weryfikowalny dowód — log z priorytetami, nie opinię.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548640" y="448056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111A2C"/>
          </a:solidFill>
          <a:ln w="12700">
            <a:solidFill>
              <a:srgbClr val="1C4A6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46634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" y="4786884"/>
            <a:ext cx="210312" cy="2103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464515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Wartość automatyzacji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325880" y="498348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realnym środowisku takie sprawdzenia powinny działać w CI/CD, nie tylko 'przy audycie'.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6309360" y="1645920"/>
            <a:ext cx="5303520" cy="4251960"/>
          </a:xfrm>
          <a:prstGeom prst="roundRect">
            <a:avLst>
              <a:gd name="adj" fmla="val 1720"/>
            </a:avLst>
          </a:prstGeom>
          <a:solidFill>
            <a:srgbClr val="F4F7FB"/>
          </a:solidFill>
          <a:ln/>
          <a:effectLst>
            <a:outerShdw blurRad="127000" dist="381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83680" y="1920240"/>
            <a:ext cx="512064" cy="512064"/>
          </a:xfrm>
          <a:prstGeom prst="ellipse">
            <a:avLst/>
          </a:prstGeom>
          <a:solidFill>
            <a:srgbClr val="12344D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1937" y="2058497"/>
            <a:ext cx="235549" cy="23554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194767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Ograniczenia eksperymentu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6601968" y="2660904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4" name="Text 18"/>
          <p:cNvSpPr/>
          <p:nvPr/>
        </p:nvSpPr>
        <p:spPr>
          <a:xfrm>
            <a:off x="6858000" y="2532888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Skrypt testuje tylko jeden plik konfiguracyjny — nie łączy się z żywym środowiskiem AWS API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601968" y="3438144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0"/>
          <p:cNvSpPr/>
          <p:nvPr/>
        </p:nvSpPr>
        <p:spPr>
          <a:xfrm>
            <a:off x="6858000" y="3310128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Reguły są statyczne — nie wykrywają nowych, nieprzewidzianych klas błędów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6601968" y="4215384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8" name="Text 22"/>
          <p:cNvSpPr/>
          <p:nvPr/>
        </p:nvSpPr>
        <p:spPr>
          <a:xfrm>
            <a:off x="6858000" y="4087368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testów wydajnościowych przy większej skali konfiguracji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6601968" y="4992624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0" name="Text 24"/>
          <p:cNvSpPr/>
          <p:nvPr/>
        </p:nvSpPr>
        <p:spPr>
          <a:xfrm>
            <a:off x="6858000" y="4864608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proof of concept, nie produkcyjne narzędzie compliance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PIRAT — EKSPERYMENT: AUDYT KONFIGURACJI BEZPIECZEŃSTWA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KONTEKST REGULACYJNY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Dlaczego dowody mają znaczenie: RODO i ISO 27001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Eksperyment wspiera bezpośrednio te same wymagania, które zmapowaliśmy w architekturze.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291840" cy="457200"/>
          </a:xfrm>
          <a:prstGeom prst="rect">
            <a:avLst/>
          </a:prstGeom>
          <a:solidFill>
            <a:srgbClr val="12344D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9659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WYMAGANIE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840480" y="1965960"/>
            <a:ext cx="4023360" cy="457200"/>
          </a:xfrm>
          <a:prstGeom prst="rect">
            <a:avLst/>
          </a:prstGeom>
          <a:solidFill>
            <a:srgbClr val="12344D"/>
          </a:solidFill>
          <a:ln/>
        </p:spPr>
      </p:sp>
      <p:sp>
        <p:nvSpPr>
          <p:cNvPr id="8" name="Text 6"/>
          <p:cNvSpPr/>
          <p:nvPr/>
        </p:nvSpPr>
        <p:spPr>
          <a:xfrm>
            <a:off x="3977640" y="19659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KONTROLA W PIRAT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863840" y="1965960"/>
            <a:ext cx="3749040" cy="457200"/>
          </a:xfrm>
          <a:prstGeom prst="rect">
            <a:avLst/>
          </a:prstGeom>
          <a:solidFill>
            <a:srgbClr val="12344D"/>
          </a:solidFill>
          <a:ln/>
        </p:spPr>
      </p:sp>
      <p:sp>
        <p:nvSpPr>
          <p:cNvPr id="10" name="Text 8"/>
          <p:cNvSpPr/>
          <p:nvPr/>
        </p:nvSpPr>
        <p:spPr>
          <a:xfrm>
            <a:off x="8001000" y="19659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DOWÓD Z EKSPERYMENTU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423160"/>
            <a:ext cx="11064240" cy="713232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423160"/>
            <a:ext cx="3063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RODO — integralność danych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77640" y="2423160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Szyfrowanie magazynów i baz danych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01000" y="2423160"/>
            <a:ext cx="3520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Audyt wykrywa brak szyfrowania automatycznie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136392"/>
            <a:ext cx="11064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136392"/>
            <a:ext cx="3063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 — kontrola dostępu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77640" y="3136392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IAM: least privilege, MFA, RBAC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01000" y="3136392"/>
            <a:ext cx="3520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Audyt wykrywa role z "*" i konta bez MFA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849624"/>
            <a:ext cx="11064240" cy="713232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849624"/>
            <a:ext cx="3063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 — bezpieczeństwo sieci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977640" y="3849624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Segmentacja, ograniczony dostęp do panelu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01000" y="3849624"/>
            <a:ext cx="3520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Audyt wykrywa panel dostępny z internetu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4791456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RODO — zgłoszenie naruszenia w 72h: </a:t>
            </a: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scentralizowane logi z SIEM pozwalają szybko ustalić zakres incydentu, jeśli wykryte błędy zostaną wykorzystane.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PIRAT — EKSPERYMENT: AUDYT KONFIGURACJI BEZPIECZEŃSTWA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DALSZY ROZWÓJ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Kompromisy projektu i rozwój eksperymentu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F4F7FB"/>
          </a:solidFill>
          <a:ln/>
          <a:effectLst>
            <a:outerShdw blurRad="127000" dist="381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512064" cy="512064"/>
          </a:xfrm>
          <a:prstGeom prst="ellipse">
            <a:avLst/>
          </a:prstGeom>
          <a:solidFill>
            <a:srgbClr val="12344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217" y="2012777"/>
            <a:ext cx="235549" cy="2355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1109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Przyjęte kompromisy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41248" y="2560320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6"/>
          <p:cNvSpPr/>
          <p:nvPr/>
        </p:nvSpPr>
        <p:spPr>
          <a:xfrm>
            <a:off x="1097280" y="24231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MFA: obowiązkowe dla adminów, opcjonalne dla klientów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097280" y="301752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Pełne wymuszenie zwiększyłoby bezpieczeństwo, ale zniechęciłoby klientów.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41248" y="3730752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9"/>
          <p:cNvSpPr/>
          <p:nvPr/>
        </p:nvSpPr>
        <p:spPr>
          <a:xfrm>
            <a:off x="1097280" y="3593592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Akceptacja ryzyk niskiego priorytetu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097280" y="4187952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Manipulacja ceną pokryta ogólną walidacją danych — bez dedykowanej kontroli.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41248" y="4901184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2"/>
          <p:cNvSpPr/>
          <p:nvPr/>
        </p:nvSpPr>
        <p:spPr>
          <a:xfrm>
            <a:off x="1097280" y="476402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pełnej zgodności z PCI-DSS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097280" y="5358384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Ryzyko przeniesione na zewnętrznego dostawcę płatności (Przelewy24).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217920" y="160020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12344D"/>
          </a:solidFill>
          <a:ln/>
          <a:effectLst>
            <a:outerShdw blurRad="127000" dist="381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92240" y="1874520"/>
            <a:ext cx="512064" cy="512064"/>
          </a:xfrm>
          <a:prstGeom prst="ellipse">
            <a:avLst/>
          </a:prstGeom>
          <a:solidFill>
            <a:srgbClr val="22D3C9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0497" y="2012777"/>
            <a:ext cx="235549" cy="235549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178040" y="191109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rozwinąć eksperyment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6492240" y="2514600"/>
            <a:ext cx="4846320" cy="713232"/>
          </a:xfrm>
          <a:prstGeom prst="roundRect">
            <a:avLst>
              <a:gd name="adj" fmla="val 7692"/>
            </a:avLst>
          </a:prstGeom>
          <a:solidFill>
            <a:srgbClr val="1C4A66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6832" y="2734056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086600" y="2514600"/>
            <a:ext cx="4160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Integracja z prawdziwym AWS API (boto3) zamiast statycznego JSON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6492240" y="3355848"/>
            <a:ext cx="4846320" cy="713232"/>
          </a:xfrm>
          <a:prstGeom prst="roundRect">
            <a:avLst>
              <a:gd name="adj" fmla="val 7692"/>
            </a:avLst>
          </a:prstGeom>
          <a:solidFill>
            <a:srgbClr val="1C4A66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6832" y="3575304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086600" y="3355848"/>
            <a:ext cx="4160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Uruchamianie automatyczne w pipeline CI/CD przy każdym wdrożeniu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6492240" y="4197096"/>
            <a:ext cx="4846320" cy="713232"/>
          </a:xfrm>
          <a:prstGeom prst="roundRect">
            <a:avLst>
              <a:gd name="adj" fmla="val 7692"/>
            </a:avLst>
          </a:prstGeom>
          <a:solidFill>
            <a:srgbClr val="1C4A66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6832" y="4416552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086600" y="4197096"/>
            <a:ext cx="4160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Rozszerzenie reguł o segmentację VPC i polityki KMS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6492240" y="5038344"/>
            <a:ext cx="4846320" cy="713232"/>
          </a:xfrm>
          <a:prstGeom prst="roundRect">
            <a:avLst>
              <a:gd name="adj" fmla="val 7692"/>
            </a:avLst>
          </a:prstGeom>
          <a:solidFill>
            <a:srgbClr val="1C4A66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6832" y="5257800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086600" y="5038344"/>
            <a:ext cx="4160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Eksport wyników do formatu zgodnego z SIEM (np. JSON/Syslog)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PIRAT — EKSPERYMENT: AUDYT KONFIGURACJI BEZPIECZEŃSTWA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371600"/>
            <a:ext cx="5486400" cy="5486400"/>
          </a:xfrm>
          <a:prstGeom prst="ellipse">
            <a:avLst/>
          </a:prstGeom>
          <a:solidFill>
            <a:srgbClr val="22D3C9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85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PODSUMOWANIE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13232" y="1051560"/>
            <a:ext cx="9144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E7EE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Bezpieczeństwo to proces,</a:t>
            </a:r>
            <a:endParaRPr lang="en-US" sz="3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E7EE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nie stan końcowy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60604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Architektura defense in depth nie eliminuje wszystkich zagrożeń. Eksperyment pokazał, że jej realna wartość zależy od tego, czy wdrożenie faktycznie odzwierciedla projekt — i że to można zweryfikować automatycznie, a nie na słowo.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388620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111A2C"/>
          </a:solidFill>
          <a:ln w="12700">
            <a:solidFill>
              <a:srgbClr val="1C4A6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416052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973" y="4308653"/>
            <a:ext cx="252374" cy="25237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48463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Skrypt = dowód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05840" y="525780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kategorii reguł, automatyczna priorytetyzacja, weryfikowalny wynik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26280" y="388620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111A2C"/>
          </a:solidFill>
          <a:ln w="12700">
            <a:solidFill>
              <a:srgbClr val="1C4A6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00600" y="416052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8733" y="4308653"/>
            <a:ext cx="252374" cy="25237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00600" y="48463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błędów wykrytych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800600" y="525780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krytyczne, 3 wysokie — wszystkie wstrzyknięte celowo zostały znalezione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321040" y="388620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111A2C"/>
          </a:solidFill>
          <a:ln w="12700">
            <a:solidFill>
              <a:srgbClr val="1C4A6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595360" y="416052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3493" y="4308653"/>
            <a:ext cx="252374" cy="25237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95360" y="48463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Pętla domknięta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595360" y="525780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Wyniki audytu odpowiadają zagrożeniom z analizy STRIDE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73152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Dziękujemy za uwagę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1457</Words>
  <Application>Microsoft Office PowerPoint</Application>
  <PresentationFormat>Panoramiczny</PresentationFormat>
  <Paragraphs>261</Paragraphs>
  <Slides>15</Slides>
  <Notes>15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Audyt konfiguracji bezpieczeństwa — eksperyment praktyczny</dc:title>
  <dc:subject>PptxGenJS Presentation</dc:subject>
  <dc:creator>Łukasz Pietrulewicz, Jakub Ratajczak</dc:creator>
  <cp:lastModifiedBy>Łukasz Pietrulewcz</cp:lastModifiedBy>
  <cp:revision>1</cp:revision>
  <dcterms:created xsi:type="dcterms:W3CDTF">2026-06-24T15:12:44Z</dcterms:created>
  <dcterms:modified xsi:type="dcterms:W3CDTF">2026-06-24T15:16:27Z</dcterms:modified>
</cp:coreProperties>
</file>